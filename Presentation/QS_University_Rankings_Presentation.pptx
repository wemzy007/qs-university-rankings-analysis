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9144000" cy="6858000" type="screen4x3"/>
  <p:notesSz cx="6858000" cy="9144000"/>
  <p:embeddedFontLst>
    <p:embeddedFont>
      <p:font typeface="Gill Sans" panose="020B0604020202020204" charset="0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g0k9FEWAPZDu1/gCCko/5+vORl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67" y="6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Faculty / Student</c:v>
                </c:pt>
              </c:strCache>
            </c:strRef>
          </c:tx>
          <c:spPr>
            <a:solidFill>
              <a:srgbClr val="C1809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2A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Small</c:v>
                </c:pt>
                <c:pt idx="1">
                  <c:v>Medium</c:v>
                </c:pt>
                <c:pt idx="2">
                  <c:v>Large</c:v>
                </c:pt>
                <c:pt idx="3">
                  <c:v>Extra Large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44</c:v>
                </c:pt>
                <c:pt idx="1">
                  <c:v>33</c:v>
                </c:pt>
                <c:pt idx="2">
                  <c:v>28</c:v>
                </c:pt>
                <c:pt idx="3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13-49C9-91AD-4442FEA11A8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Citations / Faculty</c:v>
                </c:pt>
              </c:strCache>
            </c:strRef>
          </c:tx>
          <c:spPr>
            <a:solidFill>
              <a:srgbClr val="8B153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2A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Small</c:v>
                </c:pt>
                <c:pt idx="1">
                  <c:v>Medium</c:v>
                </c:pt>
                <c:pt idx="2">
                  <c:v>Large</c:v>
                </c:pt>
                <c:pt idx="3">
                  <c:v>Extra Large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28</c:v>
                </c:pt>
                <c:pt idx="1">
                  <c:v>19</c:v>
                </c:pt>
                <c:pt idx="2">
                  <c:v>23</c:v>
                </c:pt>
                <c:pt idx="3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813-49C9-91AD-4442FEA11A8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Int'l Research Network</c:v>
                </c:pt>
              </c:strCache>
            </c:strRef>
          </c:tx>
          <c:spPr>
            <a:solidFill>
              <a:srgbClr val="5D0E2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2A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Small</c:v>
                </c:pt>
                <c:pt idx="1">
                  <c:v>Medium</c:v>
                </c:pt>
                <c:pt idx="2">
                  <c:v>Large</c:v>
                </c:pt>
                <c:pt idx="3">
                  <c:v>Extra Large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24</c:v>
                </c:pt>
                <c:pt idx="1">
                  <c:v>33</c:v>
                </c:pt>
                <c:pt idx="2">
                  <c:v>55</c:v>
                </c:pt>
                <c:pt idx="3">
                  <c:v>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813-49C9-91AD-4442FEA11A8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A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B728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9"/>
          <p:cNvSpPr txBox="1"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Gill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9"/>
          <p:cNvSpPr txBox="1"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0" cap="none">
                <a:solidFill>
                  <a:schemeClr val="dk1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7" name="Google Shape;17;p19"/>
          <p:cNvSpPr txBox="1">
            <a:spLocks noGrp="1"/>
          </p:cNvSpPr>
          <p:nvPr>
            <p:ph type="dt" idx="10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9"/>
          <p:cNvSpPr txBox="1">
            <a:spLocks noGrp="1"/>
          </p:cNvSpPr>
          <p:nvPr>
            <p:ph type="ftr" idx="11"/>
          </p:nvPr>
        </p:nvSpPr>
        <p:spPr>
          <a:xfrm>
            <a:off x="2396319" y="329308"/>
            <a:ext cx="3086292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9"/>
          <p:cNvSpPr txBox="1">
            <a:spLocks noGrp="1"/>
          </p:cNvSpPr>
          <p:nvPr>
            <p:ph type="sldNum" idx="12"/>
          </p:nvPr>
        </p:nvSpPr>
        <p:spPr>
          <a:xfrm>
            <a:off x="1434703" y="798973"/>
            <a:ext cx="802005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0" name="Google Shape;20;p19"/>
          <p:cNvCxnSpPr/>
          <p:nvPr/>
        </p:nvCxnSpPr>
        <p:spPr>
          <a:xfrm>
            <a:off x="2396319" y="3528542"/>
            <a:ext cx="5618515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0"/>
          <p:cNvSpPr txBox="1"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0"/>
          <p:cNvSpPr txBox="1">
            <a:spLocks noGrp="1"/>
          </p:cNvSpPr>
          <p:nvPr>
            <p:ph type="dt" idx="10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0"/>
          <p:cNvSpPr txBox="1">
            <a:spLocks noGrp="1"/>
          </p:cNvSpPr>
          <p:nvPr>
            <p:ph type="ftr" idx="11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0"/>
          <p:cNvSpPr txBox="1">
            <a:spLocks noGrp="1"/>
          </p:cNvSpPr>
          <p:nvPr>
            <p:ph type="sldNum" idx="12"/>
          </p:nvPr>
        </p:nvSpPr>
        <p:spPr>
          <a:xfrm>
            <a:off x="487725" y="798973"/>
            <a:ext cx="795746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7" name="Google Shape;27;p20"/>
          <p:cNvCxnSpPr/>
          <p:nvPr/>
        </p:nvCxnSpPr>
        <p:spPr>
          <a:xfrm>
            <a:off x="1443491" y="1847088"/>
            <a:ext cx="6571343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1"/>
          <p:cNvSpPr txBox="1"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1"/>
          <p:cNvSpPr txBox="1"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21"/>
          <p:cNvSpPr txBox="1">
            <a:spLocks noGrp="1"/>
          </p:cNvSpPr>
          <p:nvPr>
            <p:ph type="dt" idx="10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1"/>
          <p:cNvSpPr txBox="1">
            <a:spLocks noGrp="1"/>
          </p:cNvSpPr>
          <p:nvPr>
            <p:ph type="ftr" idx="11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1"/>
          <p:cNvSpPr txBox="1">
            <a:spLocks noGrp="1"/>
          </p:cNvSpPr>
          <p:nvPr>
            <p:ph type="sldNum" idx="12"/>
          </p:nvPr>
        </p:nvSpPr>
        <p:spPr>
          <a:xfrm>
            <a:off x="487725" y="798973"/>
            <a:ext cx="795746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4" name="Google Shape;34;p21"/>
          <p:cNvCxnSpPr/>
          <p:nvPr/>
        </p:nvCxnSpPr>
        <p:spPr>
          <a:xfrm>
            <a:off x="1443491" y="3804985"/>
            <a:ext cx="5617002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2"/>
          <p:cNvSpPr txBox="1"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2"/>
          <p:cNvSpPr txBox="1">
            <a:spLocks noGrp="1"/>
          </p:cNvSpPr>
          <p:nvPr>
            <p:ph type="body" idx="1"/>
          </p:nvPr>
        </p:nvSpPr>
        <p:spPr>
          <a:xfrm>
            <a:off x="1443490" y="2013936"/>
            <a:ext cx="3125871" cy="343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22"/>
          <p:cNvSpPr txBox="1">
            <a:spLocks noGrp="1"/>
          </p:cNvSpPr>
          <p:nvPr>
            <p:ph type="body" idx="2"/>
          </p:nvPr>
        </p:nvSpPr>
        <p:spPr>
          <a:xfrm>
            <a:off x="4889182" y="2013936"/>
            <a:ext cx="3125652" cy="3437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22"/>
          <p:cNvSpPr txBox="1">
            <a:spLocks noGrp="1"/>
          </p:cNvSpPr>
          <p:nvPr>
            <p:ph type="dt" idx="10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2"/>
          <p:cNvSpPr txBox="1">
            <a:spLocks noGrp="1"/>
          </p:cNvSpPr>
          <p:nvPr>
            <p:ph type="ftr" idx="11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2"/>
          <p:cNvSpPr txBox="1">
            <a:spLocks noGrp="1"/>
          </p:cNvSpPr>
          <p:nvPr>
            <p:ph type="sldNum" idx="12"/>
          </p:nvPr>
        </p:nvSpPr>
        <p:spPr>
          <a:xfrm>
            <a:off x="487725" y="798973"/>
            <a:ext cx="795746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2" name="Google Shape;42;p22"/>
          <p:cNvCxnSpPr/>
          <p:nvPr/>
        </p:nvCxnSpPr>
        <p:spPr>
          <a:xfrm>
            <a:off x="1443491" y="1847088"/>
            <a:ext cx="6571343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Google Shape;44;p23"/>
          <p:cNvCxnSpPr/>
          <p:nvPr/>
        </p:nvCxnSpPr>
        <p:spPr>
          <a:xfrm>
            <a:off x="1443491" y="1847088"/>
            <a:ext cx="6571343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23"/>
          <p:cNvSpPr txBox="1"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3"/>
          <p:cNvSpPr txBox="1"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sz="2200" b="0" cap="none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00"/>
              <a:buNone/>
              <a:defRPr sz="15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None/>
              <a:defRPr sz="135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23"/>
          <p:cNvSpPr txBox="1">
            <a:spLocks noGrp="1"/>
          </p:cNvSpPr>
          <p:nvPr>
            <p:ph type="body" idx="2"/>
          </p:nvPr>
        </p:nvSpPr>
        <p:spPr>
          <a:xfrm>
            <a:off x="1443491" y="2824270"/>
            <a:ext cx="3125766" cy="2644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body" idx="3"/>
          </p:nvPr>
        </p:nvSpPr>
        <p:spPr>
          <a:xfrm>
            <a:off x="4889182" y="2023004"/>
            <a:ext cx="3125652" cy="802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sz="2200" b="0" cap="none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00"/>
              <a:buNone/>
              <a:defRPr sz="15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None/>
              <a:defRPr sz="135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body" idx="4"/>
          </p:nvPr>
        </p:nvSpPr>
        <p:spPr>
          <a:xfrm>
            <a:off x="4889182" y="2821491"/>
            <a:ext cx="3125652" cy="2637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3"/>
          <p:cNvSpPr txBox="1">
            <a:spLocks noGrp="1"/>
          </p:cNvSpPr>
          <p:nvPr>
            <p:ph type="dt" idx="10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3"/>
          <p:cNvSpPr txBox="1">
            <a:spLocks noGrp="1"/>
          </p:cNvSpPr>
          <p:nvPr>
            <p:ph type="ftr" idx="11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sldNum" idx="12"/>
          </p:nvPr>
        </p:nvSpPr>
        <p:spPr>
          <a:xfrm>
            <a:off x="487725" y="798973"/>
            <a:ext cx="795746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Google Shape;54;p24"/>
          <p:cNvCxnSpPr/>
          <p:nvPr/>
        </p:nvCxnSpPr>
        <p:spPr>
          <a:xfrm>
            <a:off x="1443491" y="1847088"/>
            <a:ext cx="6571343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5" name="Google Shape;55;p24"/>
          <p:cNvSpPr txBox="1"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dt" idx="10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ftr" idx="11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4"/>
          <p:cNvSpPr txBox="1">
            <a:spLocks noGrp="1"/>
          </p:cNvSpPr>
          <p:nvPr>
            <p:ph type="sldNum" idx="12"/>
          </p:nvPr>
        </p:nvSpPr>
        <p:spPr>
          <a:xfrm>
            <a:off x="487725" y="798973"/>
            <a:ext cx="795746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5"/>
          <p:cNvSpPr txBox="1">
            <a:spLocks noGrp="1"/>
          </p:cNvSpPr>
          <p:nvPr>
            <p:ph type="dt" idx="10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5"/>
          <p:cNvSpPr txBox="1">
            <a:spLocks noGrp="1"/>
          </p:cNvSpPr>
          <p:nvPr>
            <p:ph type="ftr" idx="11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5"/>
          <p:cNvSpPr txBox="1">
            <a:spLocks noGrp="1"/>
          </p:cNvSpPr>
          <p:nvPr>
            <p:ph type="sldNum" idx="12"/>
          </p:nvPr>
        </p:nvSpPr>
        <p:spPr>
          <a:xfrm>
            <a:off x="487725" y="798973"/>
            <a:ext cx="795746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6"/>
          <p:cNvSpPr txBox="1"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6"/>
          <p:cNvSpPr txBox="1">
            <a:spLocks noGrp="1"/>
          </p:cNvSpPr>
          <p:nvPr>
            <p:ph type="body" idx="1"/>
          </p:nvPr>
        </p:nvSpPr>
        <p:spPr>
          <a:xfrm>
            <a:off x="4186656" y="798974"/>
            <a:ext cx="3828178" cy="465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26"/>
          <p:cNvSpPr txBox="1">
            <a:spLocks noGrp="1"/>
          </p:cNvSpPr>
          <p:nvPr>
            <p:ph type="body" idx="2"/>
          </p:nvPr>
        </p:nvSpPr>
        <p:spPr>
          <a:xfrm>
            <a:off x="1439042" y="3205492"/>
            <a:ext cx="2427369" cy="2248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50"/>
              <a:buNone/>
              <a:defRPr sz="105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750"/>
              <a:buNone/>
              <a:defRPr sz="75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750"/>
              <a:buNone/>
              <a:defRPr sz="75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750"/>
              <a:buNone/>
              <a:defRPr sz="75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750"/>
              <a:buNone/>
              <a:defRPr sz="75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750"/>
              <a:buNone/>
              <a:defRPr sz="75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7" name="Google Shape;67;p26"/>
          <p:cNvSpPr txBox="1">
            <a:spLocks noGrp="1"/>
          </p:cNvSpPr>
          <p:nvPr>
            <p:ph type="dt" idx="10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6"/>
          <p:cNvSpPr txBox="1">
            <a:spLocks noGrp="1"/>
          </p:cNvSpPr>
          <p:nvPr>
            <p:ph type="ftr" idx="11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6"/>
          <p:cNvSpPr txBox="1">
            <a:spLocks noGrp="1"/>
          </p:cNvSpPr>
          <p:nvPr>
            <p:ph type="sldNum" idx="12"/>
          </p:nvPr>
        </p:nvSpPr>
        <p:spPr>
          <a:xfrm>
            <a:off x="487725" y="798973"/>
            <a:ext cx="795746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0" name="Google Shape;70;p26"/>
          <p:cNvCxnSpPr/>
          <p:nvPr/>
        </p:nvCxnSpPr>
        <p:spPr>
          <a:xfrm>
            <a:off x="1441748" y="3205491"/>
            <a:ext cx="2423276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27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73" name="Google Shape;73;p27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  <a:lin ang="5400000" scaled="0"/>
            </a:gradFill>
            <a:ln>
              <a:noFill/>
            </a:ln>
            <a:effectLst>
              <a:outerShdw blurRad="127000" dist="228600" dir="4740000" sx="98000" sy="98000" algn="tl" rotWithShape="0">
                <a:srgbClr val="000000">
                  <a:alpha val="3411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7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ap="flat" cmpd="sng">
              <a:solidFill>
                <a:srgbClr val="19191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" name="Google Shape;75;p27"/>
          <p:cNvSpPr txBox="1"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>
            <a:spLocks noGrp="1"/>
          </p:cNvSpPr>
          <p:nvPr>
            <p:ph type="pic" idx="2"/>
          </p:nvPr>
        </p:nvSpPr>
        <p:spPr>
          <a:xfrm>
            <a:off x="5640128" y="1122543"/>
            <a:ext cx="2234998" cy="386632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7" name="Google Shape;77;p27"/>
          <p:cNvSpPr txBox="1">
            <a:spLocks noGrp="1"/>
          </p:cNvSpPr>
          <p:nvPr>
            <p:ph type="body" idx="1"/>
          </p:nvPr>
        </p:nvSpPr>
        <p:spPr>
          <a:xfrm>
            <a:off x="1443492" y="3145992"/>
            <a:ext cx="3240286" cy="2003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50"/>
              <a:buNone/>
              <a:defRPr sz="105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750"/>
              <a:buNone/>
              <a:defRPr sz="75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750"/>
              <a:buNone/>
              <a:defRPr sz="75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750"/>
              <a:buNone/>
              <a:defRPr sz="75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750"/>
              <a:buNone/>
              <a:defRPr sz="75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750"/>
              <a:buNone/>
              <a:defRPr sz="75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8" name="Google Shape;78;p27"/>
          <p:cNvSpPr txBox="1">
            <a:spLocks noGrp="1"/>
          </p:cNvSpPr>
          <p:nvPr>
            <p:ph type="dt" idx="10"/>
          </p:nvPr>
        </p:nvSpPr>
        <p:spPr>
          <a:xfrm>
            <a:off x="1436664" y="5469857"/>
            <a:ext cx="3252420" cy="320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7"/>
          <p:cNvSpPr txBox="1">
            <a:spLocks noGrp="1"/>
          </p:cNvSpPr>
          <p:nvPr>
            <p:ph type="ftr" idx="11"/>
          </p:nvPr>
        </p:nvSpPr>
        <p:spPr>
          <a:xfrm>
            <a:off x="1437530" y="318641"/>
            <a:ext cx="3251553" cy="32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7"/>
          <p:cNvSpPr txBox="1">
            <a:spLocks noGrp="1"/>
          </p:cNvSpPr>
          <p:nvPr>
            <p:ph type="sldNum" idx="12"/>
          </p:nvPr>
        </p:nvSpPr>
        <p:spPr>
          <a:xfrm>
            <a:off x="487725" y="798973"/>
            <a:ext cx="795746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1" name="Google Shape;81;p27"/>
          <p:cNvCxnSpPr/>
          <p:nvPr/>
        </p:nvCxnSpPr>
        <p:spPr>
          <a:xfrm>
            <a:off x="1441281" y="3143605"/>
            <a:ext cx="3242014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3" name="Google Shape;83;p28"/>
          <p:cNvCxnSpPr/>
          <p:nvPr/>
        </p:nvCxnSpPr>
        <p:spPr>
          <a:xfrm>
            <a:off x="1443491" y="1847088"/>
            <a:ext cx="6571343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4" name="Google Shape;84;p28"/>
          <p:cNvSpPr txBox="1"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8"/>
          <p:cNvSpPr txBox="1">
            <a:spLocks noGrp="1"/>
          </p:cNvSpPr>
          <p:nvPr>
            <p:ph type="body" idx="1"/>
          </p:nvPr>
        </p:nvSpPr>
        <p:spPr>
          <a:xfrm rot="5400000">
            <a:off x="3003856" y="455368"/>
            <a:ext cx="3450613" cy="6571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28"/>
          <p:cNvSpPr txBox="1">
            <a:spLocks noGrp="1"/>
          </p:cNvSpPr>
          <p:nvPr>
            <p:ph type="dt" idx="10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8"/>
          <p:cNvSpPr txBox="1">
            <a:spLocks noGrp="1"/>
          </p:cNvSpPr>
          <p:nvPr>
            <p:ph type="ftr" idx="11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8"/>
          <p:cNvSpPr txBox="1">
            <a:spLocks noGrp="1"/>
          </p:cNvSpPr>
          <p:nvPr>
            <p:ph type="sldNum" idx="12"/>
          </p:nvPr>
        </p:nvSpPr>
        <p:spPr>
          <a:xfrm>
            <a:off x="487725" y="798973"/>
            <a:ext cx="795746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9"/>
          <p:cNvSpPr txBox="1">
            <a:spLocks noGrp="1"/>
          </p:cNvSpPr>
          <p:nvPr>
            <p:ph type="title"/>
          </p:nvPr>
        </p:nvSpPr>
        <p:spPr>
          <a:xfrm rot="5400000">
            <a:off x="5139597" y="2577405"/>
            <a:ext cx="4659889" cy="1103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9"/>
          <p:cNvSpPr txBox="1">
            <a:spLocks noGrp="1"/>
          </p:cNvSpPr>
          <p:nvPr>
            <p:ph type="body" idx="1"/>
          </p:nvPr>
        </p:nvSpPr>
        <p:spPr>
          <a:xfrm rot="5400000">
            <a:off x="1764094" y="478371"/>
            <a:ext cx="4659889" cy="5301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29"/>
          <p:cNvSpPr txBox="1">
            <a:spLocks noGrp="1"/>
          </p:cNvSpPr>
          <p:nvPr>
            <p:ph type="dt" idx="10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9"/>
          <p:cNvSpPr txBox="1">
            <a:spLocks noGrp="1"/>
          </p:cNvSpPr>
          <p:nvPr>
            <p:ph type="ftr" idx="11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9"/>
          <p:cNvSpPr txBox="1">
            <a:spLocks noGrp="1"/>
          </p:cNvSpPr>
          <p:nvPr>
            <p:ph type="sldNum" idx="12"/>
          </p:nvPr>
        </p:nvSpPr>
        <p:spPr>
          <a:xfrm>
            <a:off x="487725" y="798973"/>
            <a:ext cx="795746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5" name="Google Shape;95;p29"/>
          <p:cNvCxnSpPr/>
          <p:nvPr/>
        </p:nvCxnSpPr>
        <p:spPr>
          <a:xfrm>
            <a:off x="6918028" y="798974"/>
            <a:ext cx="0" cy="4659889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BE9E6"/>
            </a:gs>
            <a:gs pos="100000">
              <a:srgbClr val="C9C5C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" name="Google Shape;7;p18"/>
          <p:cNvPicPr preferRelativeResize="0"/>
          <p:nvPr/>
        </p:nvPicPr>
        <p:blipFill rotWithShape="1">
          <a:blip r:embed="rId13">
            <a:alphaModFix/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" name="Google Shape;8;p18"/>
          <p:cNvCxnSpPr/>
          <p:nvPr/>
        </p:nvCxnSpPr>
        <p:spPr>
          <a:xfrm>
            <a:off x="0" y="6101127"/>
            <a:ext cx="9144000" cy="0"/>
          </a:xfrm>
          <a:prstGeom prst="straightConnector1">
            <a:avLst/>
          </a:prstGeom>
          <a:noFill/>
          <a:ln w="12700" cap="flat" cmpd="sng">
            <a:solidFill>
              <a:srgbClr val="000001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" name="Google Shape;9;p18"/>
          <p:cNvSpPr txBox="1"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18"/>
          <p:cNvSpPr txBox="1"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302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302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175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04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04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04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04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04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1" name="Google Shape;11;p18"/>
          <p:cNvSpPr txBox="1">
            <a:spLocks noGrp="1"/>
          </p:cNvSpPr>
          <p:nvPr>
            <p:ph type="dt" idx="10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2" name="Google Shape;12;p18"/>
          <p:cNvSpPr txBox="1">
            <a:spLocks noGrp="1"/>
          </p:cNvSpPr>
          <p:nvPr>
            <p:ph type="ftr" idx="11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3" name="Google Shape;13;p18"/>
          <p:cNvSpPr txBox="1">
            <a:spLocks noGrp="1"/>
          </p:cNvSpPr>
          <p:nvPr>
            <p:ph type="sldNum" idx="12"/>
          </p:nvPr>
        </p:nvSpPr>
        <p:spPr>
          <a:xfrm>
            <a:off x="487725" y="798973"/>
            <a:ext cx="795746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spcBef>
                <a:spcPts val="0"/>
              </a:spcBef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spcBef>
                <a:spcPts val="0"/>
              </a:spcBef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spcBef>
                <a:spcPts val="0"/>
              </a:spcBef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spcBef>
                <a:spcPts val="0"/>
              </a:spcBef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spcBef>
                <a:spcPts val="0"/>
              </a:spcBef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spcBef>
                <a:spcPts val="0"/>
              </a:spcBef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spcBef>
                <a:spcPts val="0"/>
              </a:spcBef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spcBef>
                <a:spcPts val="0"/>
              </a:spcBef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BE9E6"/>
            </a:gs>
            <a:gs pos="100000">
              <a:srgbClr val="C9C5C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/>
          <p:nvPr/>
        </p:nvSpPr>
        <p:spPr>
          <a:xfrm>
            <a:off x="1" y="0"/>
            <a:ext cx="9143771" cy="6858000"/>
          </a:xfrm>
          <a:prstGeom prst="rect">
            <a:avLst/>
          </a:prstGeom>
          <a:gradFill>
            <a:gsLst>
              <a:gs pos="0">
                <a:srgbClr val="EBE9E6"/>
              </a:gs>
              <a:gs pos="100000">
                <a:srgbClr val="C9C5C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01" name="Google Shape;101;p1" descr="Stock exchange numbers"/>
          <p:cNvPicPr preferRelativeResize="0"/>
          <p:nvPr/>
        </p:nvPicPr>
        <p:blipFill rotWithShape="1">
          <a:blip r:embed="rId3">
            <a:alphaModFix amt="50000"/>
          </a:blip>
          <a:srcRect l="6241" r="4760" b="-1"/>
          <a:stretch/>
        </p:blipFill>
        <p:spPr>
          <a:xfrm>
            <a:off x="228" y="10"/>
            <a:ext cx="9143772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"/>
          <p:cNvSpPr/>
          <p:nvPr/>
        </p:nvSpPr>
        <p:spPr>
          <a:xfrm>
            <a:off x="0" y="2019476"/>
            <a:ext cx="9144000" cy="4838514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rgbClr val="DFDBD5">
                  <a:alpha val="8000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3" name="Google Shape;103;p1"/>
          <p:cNvSpPr txBox="1">
            <a:spLocks noGrp="1"/>
          </p:cNvSpPr>
          <p:nvPr>
            <p:ph type="ctrTitle"/>
          </p:nvPr>
        </p:nvSpPr>
        <p:spPr>
          <a:xfrm>
            <a:off x="1813334" y="802298"/>
            <a:ext cx="6477805" cy="2541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Gill Sans"/>
              <a:buNone/>
            </a:pPr>
            <a:r>
              <a:rPr lang="en-US" dirty="0"/>
              <a:t>QS UNIVERSITY RANKINGS ANALYSIS</a:t>
            </a:r>
            <a:endParaRPr dirty="0"/>
          </a:p>
        </p:txBody>
      </p:sp>
      <p:cxnSp>
        <p:nvCxnSpPr>
          <p:cNvPr id="105" name="Google Shape;105;p1"/>
          <p:cNvCxnSpPr/>
          <p:nvPr/>
        </p:nvCxnSpPr>
        <p:spPr>
          <a:xfrm>
            <a:off x="1813335" y="3528543"/>
            <a:ext cx="6477804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06" name="Google Shape;106;p1"/>
          <p:cNvPicPr preferRelativeResize="0"/>
          <p:nvPr/>
        </p:nvPicPr>
        <p:blipFill rotWithShape="1">
          <a:blip r:embed="rId4">
            <a:alphaModFix/>
          </a:blip>
          <a:srcRect t="1538" b="-1538"/>
          <a:stretch/>
        </p:blipFill>
        <p:spPr>
          <a:xfrm>
            <a:off x="0" y="6126480"/>
            <a:ext cx="9144000" cy="742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7" name="Google Shape;107;p1"/>
          <p:cNvCxnSpPr/>
          <p:nvPr/>
        </p:nvCxnSpPr>
        <p:spPr>
          <a:xfrm>
            <a:off x="0" y="6128413"/>
            <a:ext cx="9144000" cy="0"/>
          </a:xfrm>
          <a:prstGeom prst="straightConnector1">
            <a:avLst/>
          </a:prstGeom>
          <a:noFill/>
          <a:ln w="12700" cap="flat" cmpd="sng">
            <a:solidFill>
              <a:srgbClr val="000001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"/>
          <p:cNvSpPr txBox="1"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 sz="3200" b="0" i="0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AGENDA</a:t>
            </a:r>
            <a:endParaRPr/>
          </a:p>
        </p:txBody>
      </p:sp>
      <p:sp>
        <p:nvSpPr>
          <p:cNvPr id="113" name="Google Shape;113;p2"/>
          <p:cNvSpPr txBox="1"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Project Overview</a:t>
            </a:r>
            <a:endParaRPr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000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Objectives</a:t>
            </a:r>
            <a:endParaRPr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000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Dataset</a:t>
            </a:r>
            <a:endParaRPr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000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Methodology</a:t>
            </a:r>
            <a:endParaRPr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000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Key Findings</a:t>
            </a:r>
            <a:endParaRPr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000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Recommendations</a:t>
            </a:r>
            <a:endParaRPr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000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Conclusion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 txBox="1"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 sz="3200" b="0" i="0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PROJECT OVERVIEW</a:t>
            </a:r>
            <a:endParaRPr/>
          </a:p>
        </p:txBody>
      </p:sp>
      <p:sp>
        <p:nvSpPr>
          <p:cNvPr id="119" name="Google Shape;119;p3"/>
          <p:cNvSpPr txBox="1"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This project analyzes QS University Rankings data to identify the factors most strongly associated with university ranking performance and changes over time.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 txBox="1"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 sz="3200" b="0" i="0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BUSINESS PROBLEM</a:t>
            </a:r>
            <a:endParaRPr/>
          </a:p>
        </p:txBody>
      </p:sp>
      <p:sp>
        <p:nvSpPr>
          <p:cNvPr id="125" name="Google Shape;125;p4"/>
          <p:cNvSpPr txBox="1"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Universities invest heavily in reputation, research, faculty, and internationalization. Which factors contribute most to ranking success?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 txBox="1"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 sz="3200" b="0" i="0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OBJECTIVES</a:t>
            </a:r>
            <a:endParaRPr/>
          </a:p>
        </p:txBody>
      </p:sp>
      <p:sp>
        <p:nvSpPr>
          <p:cNvPr id="131" name="Google Shape;131;p5"/>
          <p:cNvSpPr txBox="1"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• Analyze rank movements</a:t>
            </a:r>
            <a:endParaRPr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000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• Examine employer reputation and employment outcomes</a:t>
            </a:r>
            <a:endParaRPr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000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• Assess research and faculty impact</a:t>
            </a:r>
            <a:endParaRPr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000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• Evaluate sustainability and diversity</a:t>
            </a:r>
            <a:endParaRPr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000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• Compare institutions by size and focus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"/>
          <p:cNvSpPr txBox="1"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 sz="3200" b="0" i="0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DATASET DESCRIPTION</a:t>
            </a:r>
            <a:endParaRPr/>
          </a:p>
        </p:txBody>
      </p:sp>
      <p:sp>
        <p:nvSpPr>
          <p:cNvPr id="137" name="Google Shape;137;p6"/>
          <p:cNvSpPr txBox="1"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cap="none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QS University Rankings dataset containing ranking positions, reputation scores, employment outcomes, research indicators, sustainability metrics, and institutional characteristics.</a:t>
            </a:r>
          </a:p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endParaRPr lang="en-US" dirty="0"/>
          </a:p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"/>
          <p:cNvSpPr txBox="1"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 sz="3200" b="0" i="0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DATA PREPARATION</a:t>
            </a:r>
            <a:endParaRPr/>
          </a:p>
        </p:txBody>
      </p:sp>
      <p:sp>
        <p:nvSpPr>
          <p:cNvPr id="143" name="Google Shape;143;p7"/>
          <p:cNvSpPr txBox="1"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• Reviewed data quality</a:t>
            </a:r>
            <a:endParaRPr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000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• Cleaned missing and inconsistent values</a:t>
            </a:r>
            <a:endParaRPr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000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• Standardized variables</a:t>
            </a:r>
            <a:endParaRPr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000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• Prepared data for visualization and analysis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 txBox="1"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 sz="3200" b="0" i="0" cap="none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METHODOLOGY</a:t>
            </a:r>
            <a:endParaRPr dirty="0"/>
          </a:p>
        </p:txBody>
      </p:sp>
      <p:sp>
        <p:nvSpPr>
          <p:cNvPr id="149" name="Google Shape;149;p8"/>
          <p:cNvSpPr txBox="1">
            <a:spLocks noGrp="1"/>
          </p:cNvSpPr>
          <p:nvPr>
            <p:ph type="body" idx="1"/>
          </p:nvPr>
        </p:nvSpPr>
        <p:spPr>
          <a:xfrm>
            <a:off x="1372546" y="1853755"/>
            <a:ext cx="7077657" cy="3934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cap="none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• Exploratory Data Analysis (EDA)</a:t>
            </a:r>
          </a:p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endParaRPr lang="en-US" sz="2000" cap="none"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000" cap="none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• Correlation Analysis</a:t>
            </a:r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endParaRPr dirty="0"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000" cap="none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• Comparative Analysis</a:t>
            </a:r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endParaRPr dirty="0"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000" cap="none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• Segmentation by size, focus, and research intensity</a:t>
            </a:r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endParaRPr dirty="0"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000" cap="none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• Dashboard Visualization</a:t>
            </a:r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endParaRPr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743ECC82-E034-5F7C-2637-92F7E08F5233}"/>
              </a:ext>
            </a:extLst>
          </p:cNvPr>
          <p:cNvSpPr/>
          <p:nvPr/>
        </p:nvSpPr>
        <p:spPr>
          <a:xfrm>
            <a:off x="1849295" y="2180203"/>
            <a:ext cx="46066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distributions, outliers, and structural patterns across all 28 indicators</a:t>
            </a:r>
            <a:endParaRPr lang="en-US" sz="1100" dirty="0"/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F1F91D25-7A5B-3B1A-4A91-93D5F93E8B71}"/>
              </a:ext>
            </a:extLst>
          </p:cNvPr>
          <p:cNvSpPr/>
          <p:nvPr/>
        </p:nvSpPr>
        <p:spPr>
          <a:xfrm>
            <a:off x="1849295" y="2918131"/>
            <a:ext cx="46066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Pearson correlations computed in DAX to test indicator-to-rank relationships</a:t>
            </a:r>
            <a:endParaRPr lang="en-US" sz="110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62A82114-4A5F-AB87-6F26-B26013CE7566}"/>
              </a:ext>
            </a:extLst>
          </p:cNvPr>
          <p:cNvSpPr/>
          <p:nvPr/>
        </p:nvSpPr>
        <p:spPr>
          <a:xfrm>
            <a:off x="1849295" y="3772182"/>
            <a:ext cx="46066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top movers, regional patterns, and reputation gaps across institutions</a:t>
            </a:r>
            <a:endParaRPr lang="en-US" sz="1100" dirty="0"/>
          </a:p>
        </p:txBody>
      </p:sp>
      <p:sp>
        <p:nvSpPr>
          <p:cNvPr id="9" name="Text 13">
            <a:extLst>
              <a:ext uri="{FF2B5EF4-FFF2-40B4-BE49-F238E27FC236}">
                <a16:creationId xmlns:a16="http://schemas.microsoft.com/office/drawing/2014/main" id="{48D22D01-9D20-94D0-E9F9-3009B5DCE6F8}"/>
              </a:ext>
            </a:extLst>
          </p:cNvPr>
          <p:cNvSpPr/>
          <p:nvPr/>
        </p:nvSpPr>
        <p:spPr>
          <a:xfrm>
            <a:off x="1849295" y="4682990"/>
            <a:ext cx="491411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Cross-tabulated Focus categories with Research Intensity to find compounding effects</a:t>
            </a:r>
            <a:endParaRPr lang="en-US" sz="1100" dirty="0"/>
          </a:p>
        </p:txBody>
      </p:sp>
      <p:sp>
        <p:nvSpPr>
          <p:cNvPr id="11" name="Text 16">
            <a:extLst>
              <a:ext uri="{FF2B5EF4-FFF2-40B4-BE49-F238E27FC236}">
                <a16:creationId xmlns:a16="http://schemas.microsoft.com/office/drawing/2014/main" id="{E32148DD-0162-34B7-CD94-9382A624C5D1}"/>
              </a:ext>
            </a:extLst>
          </p:cNvPr>
          <p:cNvSpPr/>
          <p:nvPr/>
        </p:nvSpPr>
        <p:spPr>
          <a:xfrm>
            <a:off x="1849295" y="5517917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Six-page Power BI dashboard with embedded correlation cards and themed pages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86EBF-04AA-A1B3-3418-CCCC8B024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491" y="83696"/>
            <a:ext cx="6571343" cy="540383"/>
          </a:xfrm>
        </p:spPr>
        <p:txBody>
          <a:bodyPr/>
          <a:lstStyle/>
          <a:p>
            <a:pPr algn="ctr"/>
            <a:r>
              <a:rPr lang="en-US" dirty="0"/>
              <a:t>DASHBOARD OVERVIEW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E5F59D-EA3E-D054-88BC-E8F65AD054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31DFB9-B0E1-E982-1049-BC70C9DF8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625"/>
            <a:ext cx="9144000" cy="6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665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 txBox="1">
            <a:spLocks noGrp="1"/>
          </p:cNvSpPr>
          <p:nvPr>
            <p:ph type="title"/>
          </p:nvPr>
        </p:nvSpPr>
        <p:spPr>
          <a:xfrm>
            <a:off x="1443491" y="804520"/>
            <a:ext cx="6571200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 sz="3200" b="0" i="0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RANK MOVEMENT ANALYSIS</a:t>
            </a:r>
            <a:endParaRPr/>
          </a:p>
        </p:txBody>
      </p:sp>
      <p:pic>
        <p:nvPicPr>
          <p:cNvPr id="155" name="Google Shape;155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234" y="1853620"/>
            <a:ext cx="8475873" cy="35303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347" y="1997850"/>
            <a:ext cx="8720327" cy="3323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"/>
          <p:cNvSpPr txBox="1">
            <a:spLocks noGrp="1"/>
          </p:cNvSpPr>
          <p:nvPr>
            <p:ph type="title"/>
          </p:nvPr>
        </p:nvSpPr>
        <p:spPr>
          <a:xfrm>
            <a:off x="315310" y="420140"/>
            <a:ext cx="8568559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 sz="3200" b="0" i="0" cap="none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EMPLOYER REPUTATION VS EMPLOYMENT OUTCOMES</a:t>
            </a:r>
            <a:endParaRPr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69CB712-B487-665A-715B-54F842D97956}"/>
              </a:ext>
            </a:extLst>
          </p:cNvPr>
          <p:cNvGrpSpPr/>
          <p:nvPr/>
        </p:nvGrpSpPr>
        <p:grpSpPr>
          <a:xfrm>
            <a:off x="4870239" y="1894114"/>
            <a:ext cx="4139750" cy="3410984"/>
            <a:chOff x="548640" y="1691640"/>
            <a:chExt cx="4572000" cy="4572000"/>
          </a:xfrm>
        </p:grpSpPr>
        <p:sp>
          <p:nvSpPr>
            <p:cNvPr id="3" name="Shape 2">
              <a:extLst>
                <a:ext uri="{FF2B5EF4-FFF2-40B4-BE49-F238E27FC236}">
                  <a16:creationId xmlns:a16="http://schemas.microsoft.com/office/drawing/2014/main" id="{95F33533-B83C-82FA-D90C-E31B2483FEF8}"/>
                </a:ext>
              </a:extLst>
            </p:cNvPr>
            <p:cNvSpPr/>
            <p:nvPr/>
          </p:nvSpPr>
          <p:spPr>
            <a:xfrm>
              <a:off x="548640" y="1691640"/>
              <a:ext cx="4572000" cy="4572000"/>
            </a:xfrm>
            <a:prstGeom prst="rect">
              <a:avLst/>
            </a:prstGeom>
            <a:solidFill>
              <a:srgbClr val="F5EFE8"/>
            </a:solidFill>
            <a:ln/>
          </p:spPr>
        </p:sp>
        <p:sp>
          <p:nvSpPr>
            <p:cNvPr id="5" name="Text 3">
              <a:extLst>
                <a:ext uri="{FF2B5EF4-FFF2-40B4-BE49-F238E27FC236}">
                  <a16:creationId xmlns:a16="http://schemas.microsoft.com/office/drawing/2014/main" id="{B9D9DFF4-D818-0D06-1398-5514E7C5FD00}"/>
                </a:ext>
              </a:extLst>
            </p:cNvPr>
            <p:cNvSpPr/>
            <p:nvPr/>
          </p:nvSpPr>
          <p:spPr>
            <a:xfrm>
              <a:off x="777240" y="1920240"/>
              <a:ext cx="41148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kern="0" spc="300" dirty="0">
                  <a:solidFill>
                    <a:srgbClr val="8B153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PEARSON CORRELATION</a:t>
              </a:r>
              <a:endParaRPr lang="en-US" sz="1600" dirty="0"/>
            </a:p>
          </p:txBody>
        </p:sp>
        <p:sp>
          <p:nvSpPr>
            <p:cNvPr id="7" name="Text 4">
              <a:extLst>
                <a:ext uri="{FF2B5EF4-FFF2-40B4-BE49-F238E27FC236}">
                  <a16:creationId xmlns:a16="http://schemas.microsoft.com/office/drawing/2014/main" id="{9FB4445A-4AFE-6EBC-658A-759A170E94B0}"/>
                </a:ext>
              </a:extLst>
            </p:cNvPr>
            <p:cNvSpPr/>
            <p:nvPr/>
          </p:nvSpPr>
          <p:spPr>
            <a:xfrm>
              <a:off x="777240" y="2377440"/>
              <a:ext cx="4114800" cy="1280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5600" b="1" dirty="0">
                  <a:solidFill>
                    <a:srgbClr val="8B153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 = 0.644</a:t>
              </a:r>
              <a:endParaRPr lang="en-US" sz="5600" dirty="0"/>
            </a:p>
          </p:txBody>
        </p:sp>
        <p:sp>
          <p:nvSpPr>
            <p:cNvPr id="9" name="Text 5">
              <a:extLst>
                <a:ext uri="{FF2B5EF4-FFF2-40B4-BE49-F238E27FC236}">
                  <a16:creationId xmlns:a16="http://schemas.microsoft.com/office/drawing/2014/main" id="{F15D06B1-FDDD-5AA4-E362-F651B01C90B8}"/>
                </a:ext>
              </a:extLst>
            </p:cNvPr>
            <p:cNvSpPr/>
            <p:nvPr/>
          </p:nvSpPr>
          <p:spPr>
            <a:xfrm>
              <a:off x="777240" y="3749040"/>
              <a:ext cx="41148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F2A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Moderate-strong positive relationship</a:t>
              </a:r>
              <a:endParaRPr lang="en-US" sz="1400" dirty="0"/>
            </a:p>
          </p:txBody>
        </p:sp>
        <p:sp>
          <p:nvSpPr>
            <p:cNvPr id="11" name="Text 6">
              <a:extLst>
                <a:ext uri="{FF2B5EF4-FFF2-40B4-BE49-F238E27FC236}">
                  <a16:creationId xmlns:a16="http://schemas.microsoft.com/office/drawing/2014/main" id="{E97DD3A0-46DD-5D9F-297E-267F1051AC91}"/>
                </a:ext>
              </a:extLst>
            </p:cNvPr>
            <p:cNvSpPr/>
            <p:nvPr/>
          </p:nvSpPr>
          <p:spPr>
            <a:xfrm>
              <a:off x="777241" y="4206240"/>
              <a:ext cx="4114800" cy="16453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just">
                <a:buNone/>
              </a:pPr>
              <a:r>
                <a:rPr lang="en-US" sz="120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41% of variance in employment outcomes is explained by employer reputation alone.</a:t>
              </a:r>
            </a:p>
            <a:p>
              <a:pPr marL="0" indent="0" algn="just">
                <a:buNone/>
              </a:pPr>
              <a:endParaRPr lang="en-US" sz="12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endParaRPr>
            </a:p>
            <a:p>
              <a:pPr algn="just"/>
              <a:r>
                <a:rPr lang="en-US" sz="1200" dirty="0">
                  <a:solidFill>
                    <a:srgbClr val="6B7280"/>
                  </a:solidFill>
                  <a:latin typeface="Calibri" pitchFamily="34" charset="0"/>
                  <a:cs typeface="Calibri" pitchFamily="34" charset="-120"/>
                  <a:sym typeface="Gill Sans"/>
                </a:rPr>
                <a:t>Strong positive relationship (r = 0.644). Universities with stronger employer </a:t>
              </a:r>
              <a:r>
                <a:rPr lang="en-US" sz="1200" dirty="0">
                  <a:solidFill>
                    <a:srgbClr val="6B7280"/>
                  </a:solidFill>
                  <a:latin typeface="Calibri" pitchFamily="34" charset="0"/>
                  <a:cs typeface="Calibri" pitchFamily="34" charset="-120"/>
                </a:rPr>
                <a:t>reputations</a:t>
              </a:r>
              <a:r>
                <a:rPr lang="en-US" sz="1200" dirty="0">
                  <a:solidFill>
                    <a:srgbClr val="6B7280"/>
                  </a:solidFill>
                  <a:latin typeface="Calibri" pitchFamily="34" charset="0"/>
                  <a:cs typeface="Calibri" pitchFamily="34" charset="-120"/>
                  <a:sym typeface="Gill Sans"/>
                </a:rPr>
                <a:t> generally achieved better employment outcomes</a:t>
              </a:r>
              <a:r>
                <a:rPr lang="en-US" sz="1200" dirty="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.</a:t>
              </a:r>
              <a:endParaRPr lang="en-US" sz="1200" dirty="0"/>
            </a:p>
            <a:p>
              <a:pPr marL="0" indent="0" algn="just">
                <a:buNone/>
              </a:pPr>
              <a:endParaRPr lang="en-US" sz="1100" dirty="0"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FFAB8634-797A-28EC-27F1-CB9C622CEE4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l="1338" t="1934" r="1899" b="2568"/>
          <a:stretch>
            <a:fillRect/>
          </a:stretch>
        </p:blipFill>
        <p:spPr>
          <a:xfrm>
            <a:off x="346837" y="1894114"/>
            <a:ext cx="4351283" cy="341098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"/>
          <p:cNvSpPr txBox="1">
            <a:spLocks noGrp="1"/>
          </p:cNvSpPr>
          <p:nvPr>
            <p:ph type="title"/>
          </p:nvPr>
        </p:nvSpPr>
        <p:spPr>
          <a:xfrm>
            <a:off x="1110841" y="391820"/>
            <a:ext cx="7418304" cy="656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 sz="3200" b="0" i="0" cap="none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RESEARCH PERFORMANCE FINDINGS</a:t>
            </a:r>
            <a:endParaRPr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16F69369-F4FB-4AFA-E214-1412A641503B}"/>
              </a:ext>
            </a:extLst>
          </p:cNvPr>
          <p:cNvSpPr/>
          <p:nvPr/>
        </p:nvSpPr>
        <p:spPr>
          <a:xfrm>
            <a:off x="267291" y="1877787"/>
            <a:ext cx="4236194" cy="2789596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D746D50A-29B0-0FD0-3301-BCEF350DBB40}"/>
              </a:ext>
            </a:extLst>
          </p:cNvPr>
          <p:cNvSpPr/>
          <p:nvPr/>
        </p:nvSpPr>
        <p:spPr>
          <a:xfrm>
            <a:off x="777240" y="2033754"/>
            <a:ext cx="3883178" cy="451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/ STUDENT RATIO</a:t>
            </a:r>
            <a:endParaRPr lang="en-US" sz="11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5AFC8888-D659-6EF9-5C65-0EB318516C89}"/>
              </a:ext>
            </a:extLst>
          </p:cNvPr>
          <p:cNvSpPr/>
          <p:nvPr/>
        </p:nvSpPr>
        <p:spPr>
          <a:xfrm>
            <a:off x="777240" y="2399514"/>
            <a:ext cx="3883178" cy="1127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−0.414</a:t>
            </a:r>
            <a:endParaRPr lang="en-US" sz="360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2617BEC1-7C92-6EF0-A917-C89AC68BB072}"/>
              </a:ext>
            </a:extLst>
          </p:cNvPr>
          <p:cNvSpPr/>
          <p:nvPr/>
        </p:nvSpPr>
        <p:spPr>
          <a:xfrm>
            <a:off x="777240" y="3313914"/>
            <a:ext cx="3883178" cy="451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correlation  ·  17% variance explained</a:t>
            </a:r>
            <a:endParaRPr lang="en-US" sz="120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BA082CBF-2A7D-FFB5-1322-0F7A9B6470B7}"/>
              </a:ext>
            </a:extLst>
          </p:cNvPr>
          <p:cNvSpPr/>
          <p:nvPr/>
        </p:nvSpPr>
        <p:spPr>
          <a:xfrm>
            <a:off x="698774" y="4076044"/>
            <a:ext cx="3883178" cy="451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ratios matter. They don't dominate.</a:t>
            </a:r>
            <a:endParaRPr lang="en-US" sz="1100" dirty="0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C6736C56-6A2F-4ED2-66CE-537D61525A2B}"/>
              </a:ext>
            </a:extLst>
          </p:cNvPr>
          <p:cNvSpPr/>
          <p:nvPr/>
        </p:nvSpPr>
        <p:spPr>
          <a:xfrm>
            <a:off x="4785557" y="1877787"/>
            <a:ext cx="4091152" cy="2789596"/>
          </a:xfrm>
          <a:prstGeom prst="rect">
            <a:avLst/>
          </a:prstGeom>
          <a:solidFill>
            <a:srgbClr val="F5EFE8"/>
          </a:solidFill>
          <a:ln/>
        </p:spPr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B7049B44-BA8E-F2F3-A1F9-4E00C015C376}"/>
              </a:ext>
            </a:extLst>
          </p:cNvPr>
          <p:cNvSpPr/>
          <p:nvPr/>
        </p:nvSpPr>
        <p:spPr>
          <a:xfrm>
            <a:off x="5105005" y="20764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8B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PER FACULTY</a:t>
            </a:r>
            <a:endParaRPr lang="en-US" sz="1100" dirty="0"/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E975C7BF-9D94-1140-7340-B6D77C9C70AB}"/>
              </a:ext>
            </a:extLst>
          </p:cNvPr>
          <p:cNvSpPr/>
          <p:nvPr/>
        </p:nvSpPr>
        <p:spPr>
          <a:xfrm>
            <a:off x="5105005" y="25251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8B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−0.68</a:t>
            </a:r>
            <a:endParaRPr lang="en-US" sz="3600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F8377FF8-896E-2B6E-B1F8-BA64BE792D9B}"/>
              </a:ext>
            </a:extLst>
          </p:cNvPr>
          <p:cNvSpPr/>
          <p:nvPr/>
        </p:nvSpPr>
        <p:spPr>
          <a:xfrm>
            <a:off x="5105005" y="3439519"/>
            <a:ext cx="3502967" cy="496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correlation  ·  46% variance explained</a:t>
            </a:r>
          </a:p>
          <a:p>
            <a:pPr marL="0" indent="0">
              <a:buNone/>
            </a:pPr>
            <a:endParaRPr lang="en-US" sz="1200" dirty="0">
              <a:solidFill>
                <a:srgbClr val="1F2A37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Calibri" pitchFamily="34" charset="-120"/>
                <a:sym typeface="Gill Sans"/>
              </a:rPr>
              <a:t>Strongest relationship with ranking performance, highlighting research output as a key success factor.</a:t>
            </a:r>
            <a:endParaRPr lang="en-US" sz="1200" dirty="0">
              <a:solidFill>
                <a:srgbClr val="1F2A37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6A66319F-E949-FDDB-2A01-2E5620587507}"/>
              </a:ext>
            </a:extLst>
          </p:cNvPr>
          <p:cNvSpPr/>
          <p:nvPr/>
        </p:nvSpPr>
        <p:spPr>
          <a:xfrm>
            <a:off x="5105005" y="411874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dominant academic ranking lever.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"/>
          <p:cNvSpPr txBox="1">
            <a:spLocks noGrp="1"/>
          </p:cNvSpPr>
          <p:nvPr>
            <p:ph type="title"/>
          </p:nvPr>
        </p:nvSpPr>
        <p:spPr>
          <a:xfrm>
            <a:off x="698774" y="1085759"/>
            <a:ext cx="6571343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 sz="3200" b="0" i="0" cap="none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FACULTY RESOURCES ANALYSIS</a:t>
            </a:r>
            <a:endParaRPr dirty="0"/>
          </a:p>
        </p:txBody>
      </p:sp>
      <p:sp>
        <p:nvSpPr>
          <p:cNvPr id="176" name="Google Shape;176;p12"/>
          <p:cNvSpPr txBox="1">
            <a:spLocks noGrp="1"/>
          </p:cNvSpPr>
          <p:nvPr>
            <p:ph type="body" idx="1"/>
          </p:nvPr>
        </p:nvSpPr>
        <p:spPr>
          <a:xfrm>
            <a:off x="5013435" y="1910443"/>
            <a:ext cx="3353326" cy="1837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228600" lvl="0" indent="-22860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1800" cap="none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  <a:sym typeface="Gill Sans"/>
              </a:rPr>
              <a:t>Faculty-Student Ratio showed a moderate relationship with ranking performance (r ≈ -0.414) suggesting student support contributes to outcomes.</a:t>
            </a:r>
            <a:endParaRPr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AB6A1901-A261-607E-D054-2D425189B331}"/>
              </a:ext>
            </a:extLst>
          </p:cNvPr>
          <p:cNvSpPr/>
          <p:nvPr/>
        </p:nvSpPr>
        <p:spPr>
          <a:xfrm>
            <a:off x="600732" y="1910443"/>
            <a:ext cx="4236194" cy="2781695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3F3C89F3-5D74-6AB3-A583-F8948F4F5C26}"/>
              </a:ext>
            </a:extLst>
          </p:cNvPr>
          <p:cNvSpPr/>
          <p:nvPr/>
        </p:nvSpPr>
        <p:spPr>
          <a:xfrm>
            <a:off x="777240" y="2033754"/>
            <a:ext cx="3883178" cy="451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/ STUDENT RATIO</a:t>
            </a:r>
            <a:endParaRPr lang="en-US" sz="1200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1B32D3C2-9093-035A-3E9B-DC87CA9A8291}"/>
              </a:ext>
            </a:extLst>
          </p:cNvPr>
          <p:cNvSpPr/>
          <p:nvPr/>
        </p:nvSpPr>
        <p:spPr>
          <a:xfrm>
            <a:off x="777240" y="2399514"/>
            <a:ext cx="3883178" cy="1127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−0.414</a:t>
            </a:r>
            <a:endParaRPr lang="en-US" sz="3600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91EF3075-19AE-C873-8D10-558B9415C698}"/>
              </a:ext>
            </a:extLst>
          </p:cNvPr>
          <p:cNvSpPr/>
          <p:nvPr/>
        </p:nvSpPr>
        <p:spPr>
          <a:xfrm>
            <a:off x="777240" y="3313914"/>
            <a:ext cx="3883178" cy="451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correlation  ·  17% variance explained</a:t>
            </a:r>
            <a:endParaRPr lang="en-US" sz="1200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68163D95-1F0B-14BD-65F7-70E0BE9F73CE}"/>
              </a:ext>
            </a:extLst>
          </p:cNvPr>
          <p:cNvSpPr/>
          <p:nvPr/>
        </p:nvSpPr>
        <p:spPr>
          <a:xfrm>
            <a:off x="698774" y="4076044"/>
            <a:ext cx="3883178" cy="451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ratios matter. They don't dominate.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3"/>
          <p:cNvSpPr txBox="1"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 sz="3200" b="0" i="0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INSTITUTION SIZE ANALYSIS</a:t>
            </a:r>
            <a:endParaRPr/>
          </a:p>
        </p:txBody>
      </p:sp>
      <p:sp>
        <p:nvSpPr>
          <p:cNvPr id="183" name="Google Shape;183;p13"/>
          <p:cNvSpPr txBox="1">
            <a:spLocks noGrp="1"/>
          </p:cNvSpPr>
          <p:nvPr>
            <p:ph type="body" idx="1"/>
          </p:nvPr>
        </p:nvSpPr>
        <p:spPr>
          <a:xfrm>
            <a:off x="709101" y="5067959"/>
            <a:ext cx="8040119" cy="985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>
              <a:spcBef>
                <a:spcPts val="0"/>
              </a:spcBef>
              <a:buSzPts val="2000"/>
            </a:pPr>
            <a:r>
              <a:rPr lang="en-US" sz="1600" cap="none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  <a:sym typeface="Gill Sans"/>
              </a:rPr>
              <a:t>Large and Extra-Large universities performed better on research-related metrics, Medium universities </a:t>
            </a:r>
            <a:r>
              <a:rPr lang="en-US" sz="1600" cap="none" dirty="0">
                <a:solidFill>
                  <a:srgbClr val="1F2A37"/>
                </a:solidFill>
                <a:latin typeface="Calibri" panose="020F0502020204030204" pitchFamily="34" charset="0"/>
                <a:cs typeface="Calibri" panose="020F0502020204030204" pitchFamily="34" charset="0"/>
                <a:sym typeface="Gill Sans"/>
              </a:rPr>
              <a:t>had the l</a:t>
            </a:r>
            <a:r>
              <a:rPr lang="en-US" sz="1600" dirty="0">
                <a:solidFill>
                  <a:srgbClr val="1F2A37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owest Citations (19); </a:t>
            </a:r>
            <a:r>
              <a:rPr lang="en-US" sz="1600" cap="none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  <a:sym typeface="Gill Sans"/>
              </a:rPr>
              <a:t>while smaller institutions often excelled in faculty-student ratios.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Chart 0">
            <a:extLst>
              <a:ext uri="{FF2B5EF4-FFF2-40B4-BE49-F238E27FC236}">
                <a16:creationId xmlns:a16="http://schemas.microsoft.com/office/drawing/2014/main" id="{DC816393-B26D-6453-0785-F69DAF8CD7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59127346"/>
              </p:ext>
            </p:extLst>
          </p:nvPr>
        </p:nvGraphicFramePr>
        <p:xfrm>
          <a:off x="709102" y="1915510"/>
          <a:ext cx="8040119" cy="30506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8">
            <a:extLst>
              <a:ext uri="{FF2B5EF4-FFF2-40B4-BE49-F238E27FC236}">
                <a16:creationId xmlns:a16="http://schemas.microsoft.com/office/drawing/2014/main" id="{D7DBA0F0-2F81-8598-3F69-08D3763E3615}"/>
              </a:ext>
            </a:extLst>
          </p:cNvPr>
          <p:cNvSpPr/>
          <p:nvPr/>
        </p:nvSpPr>
        <p:spPr>
          <a:xfrm>
            <a:off x="4947562" y="1920240"/>
            <a:ext cx="4057650" cy="3873054"/>
          </a:xfrm>
          <a:prstGeom prst="rect">
            <a:avLst/>
          </a:prstGeom>
          <a:solidFill>
            <a:srgbClr val="F5EFE8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311B35D8-A670-7194-8B56-B02BF4ED5146}"/>
              </a:ext>
            </a:extLst>
          </p:cNvPr>
          <p:cNvSpPr/>
          <p:nvPr/>
        </p:nvSpPr>
        <p:spPr>
          <a:xfrm>
            <a:off x="548640" y="1890326"/>
            <a:ext cx="4151376" cy="3870394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8" name="Google Shape;188;p14"/>
          <p:cNvSpPr txBox="1">
            <a:spLocks noGrp="1"/>
          </p:cNvSpPr>
          <p:nvPr>
            <p:ph type="title"/>
          </p:nvPr>
        </p:nvSpPr>
        <p:spPr>
          <a:xfrm>
            <a:off x="1382800" y="428248"/>
            <a:ext cx="6571200" cy="6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 sz="3200" b="0" i="0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SUSTAINABILITY &amp; DIVERSITY</a:t>
            </a:r>
            <a:endParaRPr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355D9FF3-576D-EB50-C4FC-664F63392218}"/>
              </a:ext>
            </a:extLst>
          </p:cNvPr>
          <p:cNvSpPr/>
          <p:nvPr/>
        </p:nvSpPr>
        <p:spPr>
          <a:xfrm>
            <a:off x="777240" y="1920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DIVERSITY</a:t>
            </a:r>
            <a:endParaRPr lang="en-US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EE5EFE8E-6414-5963-ED25-EA3AEE7C4212}"/>
              </a:ext>
            </a:extLst>
          </p:cNvPr>
          <p:cNvSpPr/>
          <p:nvPr/>
        </p:nvSpPr>
        <p:spPr>
          <a:xfrm>
            <a:off x="777240" y="237744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0.04</a:t>
            </a:r>
            <a:endParaRPr lang="en-US" sz="6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A398C9D-51C9-C840-FDD1-19896E5A3AD3}"/>
              </a:ext>
            </a:extLst>
          </p:cNvPr>
          <p:cNvSpPr/>
          <p:nvPr/>
        </p:nvSpPr>
        <p:spPr>
          <a:xfrm>
            <a:off x="777240" y="3794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meaningful relationship with rank</a:t>
            </a:r>
            <a:endParaRPr lang="en-US" sz="1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9BD6C65-5813-6FBF-2F0C-69B86F0934DB}"/>
              </a:ext>
            </a:extLst>
          </p:cNvPr>
          <p:cNvSpPr/>
          <p:nvPr/>
        </p:nvSpPr>
        <p:spPr>
          <a:xfrm>
            <a:off x="777240" y="4160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&lt;1% of rank variance explained</a:t>
            </a:r>
            <a:endParaRPr lang="en-US" sz="12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FEEEE201-5B7F-9C35-C905-061A200A4F51}"/>
              </a:ext>
            </a:extLst>
          </p:cNvPr>
          <p:cNvSpPr/>
          <p:nvPr/>
        </p:nvSpPr>
        <p:spPr>
          <a:xfrm>
            <a:off x="777240" y="4754880"/>
            <a:ext cx="39227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Pursue diversity for mission reasons, cultural exchange, alumni networks, employer perception not for ranking gain. UAE institutions, EPFL, City U Hong Kong all max at 100, yet none are top-ranked overall.</a:t>
            </a:r>
            <a:endParaRPr lang="en-US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27DF245D-1F03-18D9-B3CD-3E78F3C0C75B}"/>
              </a:ext>
            </a:extLst>
          </p:cNvPr>
          <p:cNvSpPr/>
          <p:nvPr/>
        </p:nvSpPr>
        <p:spPr>
          <a:xfrm>
            <a:off x="5168646" y="1920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300" dirty="0">
                <a:solidFill>
                  <a:srgbClr val="8B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</a:t>
            </a:r>
            <a:endParaRPr lang="en-US" dirty="0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A73361CC-AF4E-8987-B450-FC9BC9D29FB2}"/>
              </a:ext>
            </a:extLst>
          </p:cNvPr>
          <p:cNvSpPr/>
          <p:nvPr/>
        </p:nvSpPr>
        <p:spPr>
          <a:xfrm>
            <a:off x="5340096" y="237744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8B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−0.74</a:t>
            </a:r>
            <a:endParaRPr lang="en-US" sz="6400" dirty="0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9A084D80-4B7B-382B-EE5C-9C19A35FA1EF}"/>
              </a:ext>
            </a:extLst>
          </p:cNvPr>
          <p:cNvSpPr/>
          <p:nvPr/>
        </p:nvSpPr>
        <p:spPr>
          <a:xfrm>
            <a:off x="5340096" y="3794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relationship with rank</a:t>
            </a:r>
            <a:endParaRPr lang="en-US" sz="1400" dirty="0"/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3E88841F-1874-010A-4AA3-159F9AB099B9}"/>
              </a:ext>
            </a:extLst>
          </p:cNvPr>
          <p:cNvSpPr/>
          <p:nvPr/>
        </p:nvSpPr>
        <p:spPr>
          <a:xfrm>
            <a:off x="5340096" y="4160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 of rank variance explained</a:t>
            </a:r>
            <a:endParaRPr lang="en-US" sz="1200" dirty="0"/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04AEDBF7-C157-FE50-B3B4-29782DB9E340}"/>
              </a:ext>
            </a:extLst>
          </p:cNvPr>
          <p:cNvSpPr/>
          <p:nvPr/>
        </p:nvSpPr>
        <p:spPr>
          <a:xfrm>
            <a:off x="5340096" y="4754880"/>
            <a:ext cx="36027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strongest single-indicator predictor of rank in the entire dataset. </a:t>
            </a:r>
            <a:r>
              <a:rPr lang="en-US" dirty="0">
                <a:solidFill>
                  <a:srgbClr val="1F2A37"/>
                </a:solidFill>
                <a:latin typeface="Calibri" pitchFamily="34" charset="0"/>
                <a:cs typeface="Calibri" pitchFamily="34" charset="-120"/>
                <a:sym typeface="Gill Sans"/>
              </a:rPr>
              <a:t>Sustainability demonstrated a strong relationship with rankings performance. </a:t>
            </a:r>
            <a:endParaRPr lang="en-US" dirty="0">
              <a:solidFill>
                <a:srgbClr val="1F2A37"/>
              </a:solidFill>
              <a:latin typeface="Calibri" pitchFamily="34" charset="0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5"/>
          <p:cNvSpPr txBox="1"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 sz="3200" b="0" i="0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INSTITUTIONAL FOCUS &amp; RESEARCH INTENSITY</a:t>
            </a:r>
            <a:endParaRPr/>
          </a:p>
        </p:txBody>
      </p:sp>
      <p:sp>
        <p:nvSpPr>
          <p:cNvPr id="196" name="Google Shape;196;p15"/>
          <p:cNvSpPr txBox="1"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cap="none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Fully Comprehensive universities with Very High Research Intensity achieved the strongest overall performance across key indicators.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6"/>
          <p:cNvSpPr txBox="1"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 sz="3200" b="0" i="0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RECOMMENDATIONS</a:t>
            </a:r>
            <a:endParaRPr/>
          </a:p>
        </p:txBody>
      </p:sp>
      <p:sp>
        <p:nvSpPr>
          <p:cNvPr id="202" name="Google Shape;202;p16"/>
          <p:cNvSpPr/>
          <p:nvPr/>
        </p:nvSpPr>
        <p:spPr>
          <a:xfrm>
            <a:off x="972425" y="2415350"/>
            <a:ext cx="2111700" cy="2601000"/>
          </a:xfrm>
          <a:prstGeom prst="roundRect">
            <a:avLst>
              <a:gd name="adj" fmla="val 16667"/>
            </a:avLst>
          </a:prstGeom>
          <a:solidFill>
            <a:srgbClr val="98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2860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01</a:t>
            </a:r>
            <a:endParaRPr sz="36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22860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Increase research investment</a:t>
            </a:r>
            <a:endParaRPr sz="18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3" name="Google Shape;203;p16"/>
          <p:cNvSpPr/>
          <p:nvPr/>
        </p:nvSpPr>
        <p:spPr>
          <a:xfrm>
            <a:off x="3522300" y="2415350"/>
            <a:ext cx="2111700" cy="2601000"/>
          </a:xfrm>
          <a:prstGeom prst="roundRect">
            <a:avLst>
              <a:gd name="adj" fmla="val 16667"/>
            </a:avLst>
          </a:prstGeom>
          <a:solidFill>
            <a:srgbClr val="66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02</a:t>
            </a:r>
            <a:endParaRPr sz="36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2286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Strengthen employer engagement</a:t>
            </a:r>
            <a:endParaRPr sz="18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4" name="Google Shape;204;p16"/>
          <p:cNvSpPr/>
          <p:nvPr/>
        </p:nvSpPr>
        <p:spPr>
          <a:xfrm>
            <a:off x="5999275" y="2415350"/>
            <a:ext cx="2111700" cy="2601000"/>
          </a:xfrm>
          <a:prstGeom prst="roundRect">
            <a:avLst>
              <a:gd name="adj" fmla="val 16667"/>
            </a:avLst>
          </a:prstGeom>
          <a:solidFill>
            <a:srgbClr val="20124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03</a:t>
            </a:r>
            <a:endParaRPr sz="36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2286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Expand sustainability initiatives</a:t>
            </a:r>
            <a:endParaRPr sz="18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7"/>
          <p:cNvSpPr txBox="1"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 sz="3200" b="0" i="0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CONCLUSION</a:t>
            </a:r>
            <a:endParaRPr/>
          </a:p>
        </p:txBody>
      </p:sp>
      <p:sp>
        <p:nvSpPr>
          <p:cNvPr id="210" name="Google Shape;210;p17"/>
          <p:cNvSpPr txBox="1"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Research output, sustainability, and employer reputation are the strongest predictors of ranking success. Strategic investment in these areas offers the greatest opportunity for improvement.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rgbClr val="000000"/>
      </a:dk1>
      <a:lt1>
        <a:srgbClr val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3124</TotalTime>
  <Words>572</Words>
  <Application>Microsoft Office PowerPoint</Application>
  <PresentationFormat>On-screen Show (4:3)</PresentationFormat>
  <Paragraphs>91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Gill Sans</vt:lpstr>
      <vt:lpstr>Gallery</vt:lpstr>
      <vt:lpstr>QS UNIVERSITY RANKINGS ANALYSIS</vt:lpstr>
      <vt:lpstr>AGENDA</vt:lpstr>
      <vt:lpstr>PROJECT OVERVIEW</vt:lpstr>
      <vt:lpstr>BUSINESS PROBLEM</vt:lpstr>
      <vt:lpstr>OBJECTIVES</vt:lpstr>
      <vt:lpstr>DATASET DESCRIPTION</vt:lpstr>
      <vt:lpstr>DATA PREPARATION</vt:lpstr>
      <vt:lpstr>METHODOLOGY</vt:lpstr>
      <vt:lpstr>DASHBOARD OVERVIEW</vt:lpstr>
      <vt:lpstr>RANK MOVEMENT ANALYSIS</vt:lpstr>
      <vt:lpstr>EMPLOYER REPUTATION VS EMPLOYMENT OUTCOMES</vt:lpstr>
      <vt:lpstr>RESEARCH PERFORMANCE FINDINGS</vt:lpstr>
      <vt:lpstr>FACULTY RESOURCES ANALYSIS</vt:lpstr>
      <vt:lpstr>INSTITUTION SIZE ANALYSIS</vt:lpstr>
      <vt:lpstr>SUSTAINABILITY &amp; DIVERSITY</vt:lpstr>
      <vt:lpstr>INSTITUTIONAL FOCUS &amp; RESEARCH INTENSITY</vt:lpstr>
      <vt:lpstr>RECOMMENDATIONS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Uwem Effanga</cp:lastModifiedBy>
  <cp:revision>11</cp:revision>
  <dcterms:created xsi:type="dcterms:W3CDTF">2013-01-27T09:14:16Z</dcterms:created>
  <dcterms:modified xsi:type="dcterms:W3CDTF">2026-09-10T11:50:52Z</dcterms:modified>
</cp:coreProperties>
</file>